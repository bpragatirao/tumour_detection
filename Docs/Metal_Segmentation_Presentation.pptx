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2.png"/><Relationship Id="rId5" Type="http://schemas.openxmlformats.org/officeDocument/2006/relationships/image" Target="../media/image-6-5.png"/><Relationship Id="rId6" Type="http://schemas.openxmlformats.org/officeDocument/2006/relationships/image" Target="../media/image-6-2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2.png"/><Relationship Id="rId5" Type="http://schemas.openxmlformats.org/officeDocument/2006/relationships/image" Target="../media/image-8-5.png"/><Relationship Id="rId6" Type="http://schemas.openxmlformats.org/officeDocument/2006/relationships/image" Target="../media/image-8-2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3.png"/><Relationship Id="rId5" Type="http://schemas.openxmlformats.org/officeDocument/2006/relationships/image" Target="../media/image-10-3.png"/><Relationship Id="rId6" Type="http://schemas.openxmlformats.org/officeDocument/2006/relationships/image" Target="../media/image-10-6.png"/><Relationship Id="rId7" Type="http://schemas.openxmlformats.org/officeDocument/2006/relationships/image" Target="../media/image-10-3.png"/><Relationship Id="rId8" Type="http://schemas.openxmlformats.org/officeDocument/2006/relationships/image" Target="../media/image-10-3.png"/><Relationship Id="rId9" Type="http://schemas.openxmlformats.org/officeDocument/2006/relationships/image" Target="../media/image-10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2.png"/><Relationship Id="rId4" Type="http://schemas.openxmlformats.org/officeDocument/2006/relationships/image" Target="../media/image-13-2.png"/><Relationship Id="rId5" Type="http://schemas.openxmlformats.org/officeDocument/2006/relationships/image" Target="../media/image-13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5029200" cy="5029200"/>
          </a:xfrm>
          <a:prstGeom prst="ellipse">
            <a:avLst/>
          </a:prstGeom>
          <a:solidFill>
            <a:srgbClr val="E8722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E8722C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E8722C"/>
          </a:solidFill>
          <a:ln/>
        </p:spPr>
      </p:sp>
      <p:pic>
        <p:nvPicPr>
          <p:cNvPr id="5" name="Image 0" descr="/home/claude/assets/icon_ctsc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011" y="100401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SEGMENTATION FOR ARTIFACT REDUCTION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Projection-Domain vs Image-Domain Segmentation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43434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9C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study of two deep-learning approaches to segmenting metal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9C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implants in CT / CBCT scans, with a hands-on U-Net implementation.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6172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9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 •  Monday Review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DF4ED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16836"/>
            <a:ext cx="566928" cy="566928"/>
          </a:xfrm>
          <a:prstGeom prst="ellipse">
            <a:avLst/>
          </a:prstGeom>
          <a:solidFill>
            <a:srgbClr val="FBE3D2"/>
          </a:solidFill>
          <a:ln/>
        </p:spPr>
      </p:sp>
      <p:pic>
        <p:nvPicPr>
          <p:cNvPr id="6" name="Image 0" descr="/home/claude/assets/icon_x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964" y="2241560"/>
            <a:ext cx="317480" cy="317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562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08760" y="222199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metal implants corrupt CT/CBCT images and why segmentation matters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55080" y="16916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DF4ED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116836"/>
            <a:ext cx="566928" cy="566928"/>
          </a:xfrm>
          <a:prstGeom prst="ellipse">
            <a:avLst/>
          </a:prstGeom>
          <a:solidFill>
            <a:srgbClr val="FBE3D2"/>
          </a:solidFill>
          <a:ln/>
        </p:spPr>
      </p:sp>
      <p:pic>
        <p:nvPicPr>
          <p:cNvPr id="11" name="Image 1" descr="/home/claude/assets/icon_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8404" y="2241560"/>
            <a:ext cx="317480" cy="317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8562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Domains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315200" y="222199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Image-domain vs projection-domain metal segmentation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4290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DF4ED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854196"/>
            <a:ext cx="566928" cy="566928"/>
          </a:xfrm>
          <a:prstGeom prst="ellipse">
            <a:avLst/>
          </a:prstGeom>
          <a:solidFill>
            <a:srgbClr val="FBE3D2"/>
          </a:solidFill>
          <a:ln/>
        </p:spPr>
      </p:sp>
      <p:pic>
        <p:nvPicPr>
          <p:cNvPr id="16" name="Image 2" descr="/home/claude/assets/icon_netwo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964" y="3978920"/>
            <a:ext cx="317480" cy="317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5935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 — CBCT Projection Domain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508760" y="395935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Synthetic-data U-Net for projection-domain segmentation (Agrawal et al.)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55080" y="34290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DF4ED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0" y="3854196"/>
            <a:ext cx="566928" cy="566928"/>
          </a:xfrm>
          <a:prstGeom prst="ellipse">
            <a:avLst/>
          </a:prstGeom>
          <a:solidFill>
            <a:srgbClr val="FBE3D2"/>
          </a:solidFill>
          <a:ln/>
        </p:spPr>
      </p:sp>
      <p:pic>
        <p:nvPicPr>
          <p:cNvPr id="21" name="Image 3" descr="/home/claude/assets/icon_diffus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8404" y="3978920"/>
            <a:ext cx="317480" cy="317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35935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 — CT Image Domain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315200" y="395935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Diffusion-based segmentation, DiffSeg (Xie et al.)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516636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DF4ED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77240" y="5591556"/>
            <a:ext cx="566928" cy="566928"/>
          </a:xfrm>
          <a:prstGeom prst="ellipse">
            <a:avLst/>
          </a:prstGeom>
          <a:solidFill>
            <a:srgbClr val="FBE3D2"/>
          </a:solidFill>
          <a:ln/>
        </p:spPr>
      </p:sp>
      <p:pic>
        <p:nvPicPr>
          <p:cNvPr id="26" name="Image 4" descr="/home/claude/assets/icon_compar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964" y="5716280"/>
            <a:ext cx="317480" cy="317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08760" y="53309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Comparison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508760" y="569671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domain segments metal better, and why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355080" y="516636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DF4ED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583680" y="5591556"/>
            <a:ext cx="566928" cy="566928"/>
          </a:xfrm>
          <a:prstGeom prst="ellipse">
            <a:avLst/>
          </a:prstGeom>
          <a:solidFill>
            <a:srgbClr val="FBE3D2"/>
          </a:solidFill>
          <a:ln/>
        </p:spPr>
      </p:sp>
      <p:pic>
        <p:nvPicPr>
          <p:cNvPr id="31" name="Image 5" descr="/home/claude/assets/icon_cod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8404" y="5716280"/>
            <a:ext cx="317480" cy="3174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315200" y="53309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Implementation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7315200" y="569671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based metal mask segmentation notebook — approach &amp; results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161288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Metal Artifacts in CT / CBCT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accurate metal segmentation matters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implants (screws, plates, dental fillings, hip prostheses) are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high-density and cause severe artifacts: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96312"/>
            <a:ext cx="128016" cy="128016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36829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Blooming, streaking and shading around metal regions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128016" cy="128016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935224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Obscured boundaries hinder diagnosis &amp; dose planning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630168"/>
            <a:ext cx="128016" cy="128016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502152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Artifact Reduction (MAR) inpaints the metal trace —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this requires accurate metal segmentation first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471416"/>
            <a:ext cx="128016" cy="128016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343400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segmentation is slow, subjective, and impractical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thousands of CT/CBCT projections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169164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FDF4ED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MAR Pipeline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20840" y="2514600"/>
            <a:ext cx="45262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49440" y="2514600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Acquire CT / CBCT scan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20840" y="3383280"/>
            <a:ext cx="4526280" cy="713232"/>
          </a:xfrm>
          <a:prstGeom prst="roundRect">
            <a:avLst>
              <a:gd name="adj" fmla="val 7692"/>
            </a:avLst>
          </a:prstGeom>
          <a:solidFill>
            <a:srgbClr val="FBE3D2"/>
          </a:solidFill>
          <a:ln/>
          <a:effectLst>
            <a:outerShdw sx="100000" sy="100000" kx="0" ky="0" algn="bl" rotWithShape="0" blurRad="50800" dist="12700" dir="27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49440" y="3383280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Segment metal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(image domain or projection domain)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0840" y="4251960"/>
            <a:ext cx="45262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49440" y="4251960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Mask / inpaint metal trace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projections or sinogram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20840" y="5120640"/>
            <a:ext cx="45262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49440" y="5120640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Reconstruct corrected image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20840" y="6035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metal segmentation — is the focus of both papers reviewed.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61288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Segmentation Domains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 the imaging pipeline does segmentation happen?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FDF4ED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685800" cy="685800"/>
          </a:xfrm>
          <a:prstGeom prst="ellipse">
            <a:avLst/>
          </a:prstGeom>
          <a:solidFill>
            <a:srgbClr val="FBE3D2"/>
          </a:solidFill>
          <a:ln/>
        </p:spPr>
      </p:sp>
      <p:pic>
        <p:nvPicPr>
          <p:cNvPr id="6" name="Image 0" descr="/home/claude/assets/icon_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" y="211683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933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Domain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" y="278892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is performed on the reconstructed 3D CT volume (axial slices), typically using HU-based thresholds or learned models on reconstructed images.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68680" y="3950208"/>
            <a:ext cx="109728" cy="109728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3831336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on reconstructed slices (e.g. 512x512 HU volumes)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68680" y="4462272"/>
            <a:ext cx="109728" cy="109728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4343400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thresholds (2500/3000 HU) are common baselines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68680" y="4974336"/>
            <a:ext cx="109728" cy="109728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14" name="Text 11"/>
          <p:cNvSpPr/>
          <p:nvPr/>
        </p:nvSpPr>
        <p:spPr>
          <a:xfrm>
            <a:off x="1143000" y="4855464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forward-projected back to sinogram/projection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for projection-based MAR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63640" y="169164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FDF4ED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583680" y="1965960"/>
            <a:ext cx="685800" cy="685800"/>
          </a:xfrm>
          <a:prstGeom prst="ellipse">
            <a:avLst/>
          </a:prstGeom>
          <a:solidFill>
            <a:srgbClr val="FBE3D2"/>
          </a:solidFill>
          <a:ln/>
        </p:spPr>
      </p:sp>
      <p:pic>
        <p:nvPicPr>
          <p:cNvPr id="17" name="Image 1" descr="/home/claude/assets/icon_x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556" y="2116836"/>
            <a:ext cx="384048" cy="38404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452360" y="19933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Projection Domain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6583680" y="278892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is performed directly on the raw 2D X-ray projections (sinogram for CT, projections for CBCT) before reconstruction.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583680" y="3950208"/>
            <a:ext cx="109728" cy="109728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21" name="Text 17"/>
          <p:cNvSpPr/>
          <p:nvPr/>
        </p:nvSpPr>
        <p:spPr>
          <a:xfrm>
            <a:off x="6858000" y="3831336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directly on raw 2D projections / sinograms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583680" y="4462272"/>
            <a:ext cx="109728" cy="109728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23" name="Text 19"/>
          <p:cNvSpPr/>
          <p:nvPr/>
        </p:nvSpPr>
        <p:spPr>
          <a:xfrm>
            <a:off x="6858000" y="4343400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forward-projection step needed for MAR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583680" y="4974336"/>
            <a:ext cx="109728" cy="109728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25" name="Text 21"/>
          <p:cNvSpPr/>
          <p:nvPr/>
        </p:nvSpPr>
        <p:spPr>
          <a:xfrm>
            <a:off x="6858000" y="4855464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motion blur and out-of-FOV metal naturally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1161288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1 — Projection-Domain Metal Segmentation (CBCT)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Agrawal, Hietanen &amp; Sarkka, IEEE Access 2023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852160" cy="4434840"/>
          </a:xfrm>
          <a:prstGeom prst="roundRect">
            <a:avLst>
              <a:gd name="adj" fmla="val 1649"/>
            </a:avLst>
          </a:prstGeom>
          <a:solidFill>
            <a:srgbClr val="FDF4ED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594360" cy="594360"/>
          </a:xfrm>
          <a:prstGeom prst="ellipse">
            <a:avLst/>
          </a:prstGeom>
          <a:solidFill>
            <a:srgbClr val="FBE3D2"/>
          </a:solidFill>
          <a:ln/>
        </p:spPr>
      </p:sp>
      <p:pic>
        <p:nvPicPr>
          <p:cNvPr id="6" name="Image 0" descr="/home/claude/assets/icon_simul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20967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116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Training via Monte Carlo Simulation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68680" y="2807208"/>
            <a:ext cx="109728" cy="109728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2679192"/>
            <a:ext cx="5074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ground-truth metal labels are hard to obtain — boundaries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unclear and there are hundreds of projections per scan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68680" y="3529584"/>
            <a:ext cx="109728" cy="109728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3401568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simulate metal-corrupted CBCT projections + ground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from 10 real metal-affected clinical scans (knee, wrist,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foot, ankle, palm, forearm)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68680" y="4498848"/>
            <a:ext cx="109728" cy="109728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4370832"/>
            <a:ext cx="5074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noisy (300-1400 photons/pixel) vs clean (5000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photons/pixel) simulations — noisy is cheaper &amp; more realistic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68680" y="5221224"/>
            <a:ext cx="109728" cy="109728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5093208"/>
            <a:ext cx="5074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a modified U-Net (4 down/up blocks, instance norm) on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full-size projections + crops together for robustness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62940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 (10 clinical test scans)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629400" y="21945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766560" y="23042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94.8%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6766560" y="2880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DSC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Noisy (full+crops)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9372600" y="21945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9509760" y="23042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90.2%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9509760" y="2880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IOU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(full+crops)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629400" y="3749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766560" y="38587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90.5%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6766560" y="44348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DSC — CMAR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(threshold-based baseline)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9372600" y="3749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9509760" y="38587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0.51e-3</a:t>
            </a:r>
            <a:endParaRPr lang="en-US" sz="2800" dirty="0"/>
          </a:p>
        </p:txBody>
      </p:sp>
      <p:sp>
        <p:nvSpPr>
          <p:cNvPr id="28" name="Text 25"/>
          <p:cNvSpPr/>
          <p:nvPr/>
        </p:nvSpPr>
        <p:spPr>
          <a:xfrm>
            <a:off x="9509760" y="44348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6 metal-free scans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629400" y="53492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result: Noisy simulation + full-size &amp; cropped projections trained together significantly outperformed CMAR, MMAR, and consistency-check methods, especially for motion-affected and out-of-FOV metals.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161288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1 — Model &amp; Training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U-Net trained purely on simulated CBCT projections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FDF4ED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7340" y="1965960"/>
            <a:ext cx="640080" cy="640080"/>
          </a:xfrm>
          <a:prstGeom prst="ellipse">
            <a:avLst/>
          </a:prstGeom>
          <a:solidFill>
            <a:srgbClr val="FBE3D2"/>
          </a:solidFill>
          <a:ln/>
        </p:spPr>
      </p:sp>
      <p:pic>
        <p:nvPicPr>
          <p:cNvPr id="6" name="Image 0" descr="/home/claude/assets/icon_ctsc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8158" y="2106778"/>
            <a:ext cx="358445" cy="358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13232" y="2743200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&amp; Threshold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3232" y="3383280"/>
            <a:ext cx="23682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FDK reconstruction of real CBCT scans; metal segmented via global HU threshold (&gt;=3400 HU), refined with median filter + dilation</a:t>
            </a:r>
            <a:endParaRPr lang="en-US" sz="1050" dirty="0"/>
          </a:p>
        </p:txBody>
      </p:sp>
      <p:pic>
        <p:nvPicPr>
          <p:cNvPr id="10" name="Image 1" descr="/home/claude/assets/icon_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3200400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93008" y="1737360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FDF4ED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21708" y="1965960"/>
            <a:ext cx="640080" cy="640080"/>
          </a:xfrm>
          <a:prstGeom prst="ellipse">
            <a:avLst/>
          </a:prstGeom>
          <a:solidFill>
            <a:srgbClr val="FBE3D2"/>
          </a:solidFill>
          <a:ln/>
        </p:spPr>
      </p:sp>
      <p:pic>
        <p:nvPicPr>
          <p:cNvPr id="13" name="Image 2" descr="/home/claude/assets/icon_simul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2526" y="2106778"/>
            <a:ext cx="358445" cy="35844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602736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3657600" y="2743200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Simulation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657600" y="3383280"/>
            <a:ext cx="23682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Photon-transport simulation generates metal-only &amp; metal-inserted projections (PENELOPE/Badal-style), with realistic noise</a:t>
            </a:r>
            <a:endParaRPr lang="en-US" sz="1050" dirty="0"/>
          </a:p>
        </p:txBody>
      </p:sp>
      <p:pic>
        <p:nvPicPr>
          <p:cNvPr id="17" name="Image 3" descr="/home/claude/assets/icon_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776" y="3200400"/>
            <a:ext cx="201168" cy="20116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437376" y="1737360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FDF4ED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466076" y="1965960"/>
            <a:ext cx="640080" cy="640080"/>
          </a:xfrm>
          <a:prstGeom prst="ellipse">
            <a:avLst/>
          </a:prstGeom>
          <a:solidFill>
            <a:srgbClr val="FBE3D2"/>
          </a:solidFill>
          <a:ln/>
        </p:spPr>
      </p:sp>
      <p:pic>
        <p:nvPicPr>
          <p:cNvPr id="20" name="Image 4" descr="/home/claude/assets/icon_un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6894" y="2106778"/>
            <a:ext cx="358445" cy="35844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547104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6601968" y="2743200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U-Net Training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6601968" y="3383280"/>
            <a:ext cx="23682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encoder + 4 decoder blocks, instance norm, trained on simulated full-size + cropped (474x370) projections; BCE loss</a:t>
            </a:r>
            <a:endParaRPr lang="en-US" sz="1050" dirty="0"/>
          </a:p>
        </p:txBody>
      </p:sp>
      <p:pic>
        <p:nvPicPr>
          <p:cNvPr id="24" name="Image 5" descr="/home/claude/assets/icon_arr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3144" y="3200400"/>
            <a:ext cx="201168" cy="201168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381744" y="1737360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FDF4ED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10410444" y="1965960"/>
            <a:ext cx="640080" cy="640080"/>
          </a:xfrm>
          <a:prstGeom prst="ellipse">
            <a:avLst/>
          </a:prstGeom>
          <a:solidFill>
            <a:srgbClr val="FBE3D2"/>
          </a:solidFill>
          <a:ln/>
        </p:spPr>
      </p:sp>
      <p:pic>
        <p:nvPicPr>
          <p:cNvPr id="27" name="Image 6" descr="/home/claude/assets/icon_targe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51262" y="2106778"/>
            <a:ext cx="358445" cy="358445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9491472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0"/>
          <p:cNvSpPr/>
          <p:nvPr/>
        </p:nvSpPr>
        <p:spPr>
          <a:xfrm>
            <a:off x="9546336" y="2743200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Metal Trace Output</a:t>
            </a:r>
            <a:endParaRPr lang="en-US" sz="1300" dirty="0"/>
          </a:p>
        </p:txBody>
      </p:sp>
      <p:sp>
        <p:nvSpPr>
          <p:cNvPr id="30" name="Text 21"/>
          <p:cNvSpPr/>
          <p:nvPr/>
        </p:nvSpPr>
        <p:spPr>
          <a:xfrm>
            <a:off x="9546336" y="3383280"/>
            <a:ext cx="23682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+ 0.5 threshold gives the binary metal mask directly in the projection, ready for inpainting-based MAR</a:t>
            </a:r>
            <a:endParaRPr lang="en-US" sz="1050" dirty="0"/>
          </a:p>
        </p:txBody>
      </p:sp>
      <p:sp>
        <p:nvSpPr>
          <p:cNvPr id="31" name="Shape 22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2E2A26"/>
          </a:solidFill>
          <a:ln/>
        </p:spPr>
      </p:sp>
      <p:sp>
        <p:nvSpPr>
          <p:cNvPr id="32" name="Text 23"/>
          <p:cNvSpPr/>
          <p:nvPr/>
        </p:nvSpPr>
        <p:spPr>
          <a:xfrm>
            <a:off x="868680" y="516636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variant — 16 to 256 channels, 3x3 conv + ReLU + instance norm, bilinear upsampling, skip connections, 1x1 output conv + sigmoid.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a single RTX 2080 Ti, Adam optimizer, BCE loss, with stacked augmentations (flips, elastic deformation, noise, dropout).</a:t>
            </a:r>
            <a:endParaRPr lang="en-US" sz="1250" dirty="0"/>
          </a:p>
        </p:txBody>
      </p:sp>
      <p:sp>
        <p:nvSpPr>
          <p:cNvPr id="33" name="Text 24"/>
          <p:cNvSpPr/>
          <p:nvPr/>
        </p:nvSpPr>
        <p:spPr>
          <a:xfrm>
            <a:off x="1161288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2 — Image-Domain Metal Segmentation (CT)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Xie et al., DiffSeg — BMC Medical Imaging 2024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852160" cy="4434840"/>
          </a:xfrm>
          <a:prstGeom prst="roundRect">
            <a:avLst>
              <a:gd name="adj" fmla="val 1649"/>
            </a:avLst>
          </a:prstGeom>
          <a:solidFill>
            <a:srgbClr val="FDF4ED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594360" cy="594360"/>
          </a:xfrm>
          <a:prstGeom prst="ellipse">
            <a:avLst/>
          </a:prstGeom>
          <a:solidFill>
            <a:srgbClr val="FBE3D2"/>
          </a:solidFill>
          <a:ln/>
        </p:spPr>
      </p:sp>
      <p:pic>
        <p:nvPicPr>
          <p:cNvPr id="6" name="Image 0" descr="/home/claude/assets/icon_diffu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20967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116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Probabilistic Model for Metal Masks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68680" y="2807208"/>
            <a:ext cx="109728" cy="109728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2679192"/>
            <a:ext cx="5074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on reconstructed axial CT slices (512x512), not raw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68680" y="3529584"/>
            <a:ext cx="109728" cy="109728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3401568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DiffSeg = ResU-Net diffusion model + Conditional Dynamic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(fuses mask + prior image) + GFParser (removes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noise via learnable Fourier filter)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68680" y="4498848"/>
            <a:ext cx="109728" cy="109728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4370832"/>
            <a:ext cx="5074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100 patients (11,280 slices) with simulated metal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inserted into real artifact-free CT images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68680" y="5221224"/>
            <a:ext cx="109728" cy="109728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5093208"/>
            <a:ext cx="5074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clinical artifact CT, CTPelvic1K, and physical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phantoms with known titanium rod geometry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62940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 (2,820 test slices)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629400" y="21945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766560" y="23042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95.45%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6766560" y="2880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DSC — DiffSeg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(best among all models)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9372600" y="21945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9509760" y="23042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97.89%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9509760" y="2880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— DiffSeg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629400" y="3749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766560" y="38587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84.19%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6766560" y="44348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DSC — T3000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baseline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9372600" y="3749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9509760" y="38587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93.52%</a:t>
            </a:r>
            <a:endParaRPr lang="en-US" sz="2800" dirty="0"/>
          </a:p>
        </p:txBody>
      </p:sp>
      <p:sp>
        <p:nvSpPr>
          <p:cNvPr id="28" name="Text 25"/>
          <p:cNvSpPr/>
          <p:nvPr/>
        </p:nvSpPr>
        <p:spPr>
          <a:xfrm>
            <a:off x="9509760" y="44348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DSC — U-Net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(traditional baseline)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629400" y="53492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DiffSeg outperformed U-Net, Attention U-Net, R2U-Net &amp; DeepLabV3+ on simulated, clinical, and phantom data (statistically significant, p&lt;0.05 vs most models). Its smaller, tighter masks better preserve surrounding bone detail during MAR.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161288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2 — DiffSeg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dynamic coding + global frequency parser on a ResU-Net backbone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FDF4ED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7340" y="1965960"/>
            <a:ext cx="640080" cy="640080"/>
          </a:xfrm>
          <a:prstGeom prst="ellipse">
            <a:avLst/>
          </a:prstGeom>
          <a:solidFill>
            <a:srgbClr val="FBE3D2"/>
          </a:solidFill>
          <a:ln/>
        </p:spPr>
      </p:sp>
      <p:pic>
        <p:nvPicPr>
          <p:cNvPr id="6" name="Image 0" descr="/home/claude/assets/icon_ctsc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8158" y="2106778"/>
            <a:ext cx="358445" cy="358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13232" y="2743200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Simulation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3232" y="3383280"/>
            <a:ext cx="23682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masks (dental fillings, screws, hip implants, coils) inserted into clean CT; beam hardening + Poisson noise simulated for realism</a:t>
            </a:r>
            <a:endParaRPr lang="en-US" sz="1050" dirty="0"/>
          </a:p>
        </p:txBody>
      </p:sp>
      <p:pic>
        <p:nvPicPr>
          <p:cNvPr id="10" name="Image 1" descr="/home/claude/assets/icon_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3200400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93008" y="1737360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FDF4ED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21708" y="1965960"/>
            <a:ext cx="640080" cy="640080"/>
          </a:xfrm>
          <a:prstGeom prst="ellipse">
            <a:avLst/>
          </a:prstGeom>
          <a:solidFill>
            <a:srgbClr val="FBE3D2"/>
          </a:solidFill>
          <a:ln/>
        </p:spPr>
      </p:sp>
      <p:pic>
        <p:nvPicPr>
          <p:cNvPr id="13" name="Image 2" descr="/home/claude/assets/icon_diffus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2526" y="2106778"/>
            <a:ext cx="358445" cy="35844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602736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3657600" y="2743200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Process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657600" y="3383280"/>
            <a:ext cx="23682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process adds Gaussian noise to the segment label over T=1000 steps; ResU-Net learns to reverse it conditioned on the CT image</a:t>
            </a:r>
            <a:endParaRPr lang="en-US" sz="1050" dirty="0"/>
          </a:p>
        </p:txBody>
      </p:sp>
      <p:pic>
        <p:nvPicPr>
          <p:cNvPr id="17" name="Image 3" descr="/home/claude/assets/icon_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776" y="3200400"/>
            <a:ext cx="201168" cy="20116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437376" y="1737360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FDF4ED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466076" y="1965960"/>
            <a:ext cx="640080" cy="640080"/>
          </a:xfrm>
          <a:prstGeom prst="ellipse">
            <a:avLst/>
          </a:prstGeom>
          <a:solidFill>
            <a:srgbClr val="FBE3D2"/>
          </a:solidFill>
          <a:ln/>
        </p:spPr>
      </p:sp>
      <p:pic>
        <p:nvPicPr>
          <p:cNvPr id="20" name="Image 4" descr="/home/claude/assets/icon_lay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6894" y="2106778"/>
            <a:ext cx="358445" cy="35844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547104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6601968" y="2743200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Conditional Coding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6601968" y="3383280"/>
            <a:ext cx="23682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current segmentation mask features with the original-image prior at multiple scales to focus on the metal region</a:t>
            </a:r>
            <a:endParaRPr lang="en-US" sz="1050" dirty="0"/>
          </a:p>
        </p:txBody>
      </p:sp>
      <p:pic>
        <p:nvPicPr>
          <p:cNvPr id="24" name="Image 5" descr="/home/claude/assets/icon_arr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3144" y="3200400"/>
            <a:ext cx="201168" cy="201168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381744" y="1737360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FDF4ED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10410444" y="1965960"/>
            <a:ext cx="640080" cy="640080"/>
          </a:xfrm>
          <a:prstGeom prst="ellipse">
            <a:avLst/>
          </a:prstGeom>
          <a:solidFill>
            <a:srgbClr val="FBE3D2"/>
          </a:solidFill>
          <a:ln/>
        </p:spPr>
      </p:sp>
      <p:pic>
        <p:nvPicPr>
          <p:cNvPr id="27" name="Image 6" descr="/home/claude/assets/icon_targe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51262" y="2106778"/>
            <a:ext cx="358445" cy="358445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9491472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0"/>
          <p:cNvSpPr/>
          <p:nvPr/>
        </p:nvSpPr>
        <p:spPr>
          <a:xfrm>
            <a:off x="9546336" y="2743200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GFParser</a:t>
            </a:r>
            <a:endParaRPr lang="en-US" sz="1300" dirty="0"/>
          </a:p>
        </p:txBody>
      </p:sp>
      <p:sp>
        <p:nvSpPr>
          <p:cNvPr id="30" name="Text 21"/>
          <p:cNvSpPr/>
          <p:nvPr/>
        </p:nvSpPr>
        <p:spPr>
          <a:xfrm>
            <a:off x="9546336" y="3383280"/>
            <a:ext cx="23682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FFT-based learnable frequency filter removes high-frequency noise introduced by the conditional fusion, sharpening mask edges</a:t>
            </a:r>
            <a:endParaRPr lang="en-US" sz="1050" dirty="0"/>
          </a:p>
        </p:txBody>
      </p:sp>
      <p:sp>
        <p:nvSpPr>
          <p:cNvPr id="31" name="Shape 22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2E2A26"/>
          </a:solidFill>
          <a:ln/>
        </p:spPr>
      </p:sp>
      <p:sp>
        <p:nvSpPr>
          <p:cNvPr id="32" name="Text 23"/>
          <p:cNvSpPr/>
          <p:nvPr/>
        </p:nvSpPr>
        <p:spPr>
          <a:xfrm>
            <a:off x="868680" y="516636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impact: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both modules drops DSC to 93.56% (DiffSeg_1). Dynamic conditional coding alone gives 94.35% (+0.79%). Adding GFParser reaches the full 95.45% (+1.1% total) — each component contributes measurably.</a:t>
            </a:r>
            <a:endParaRPr lang="en-US" sz="1250" dirty="0"/>
          </a:p>
        </p:txBody>
      </p:sp>
      <p:sp>
        <p:nvSpPr>
          <p:cNvPr id="33" name="Text 24"/>
          <p:cNvSpPr/>
          <p:nvPr/>
        </p:nvSpPr>
        <p:spPr>
          <a:xfrm>
            <a:off x="1161288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Head-to-Head Comparison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Projection-domain (CBCT) vs Image-domain (CT) metal segmentation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434840"/>
        </p:xfrm>
        <a:graphic>
          <a:graphicData uri="http://schemas.openxmlformats.org/drawingml/2006/table">
            <a:tbl>
              <a:tblPr/>
              <a:tblGrid>
                <a:gridCol w="2743200"/>
                <a:gridCol w="4526280"/>
                <a:gridCol w="3794760"/>
              </a:tblGrid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2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Projection Domain (Paper 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2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Domain (Paper 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22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Modality /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B64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CBCT, extremity scans (knee, wrist, ankle, foot)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B64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CT, head/neck, chest, abdomen + phantoms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B64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Modified U-Net (CNN, supervised)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B64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DiffSeg — diffusion model + ResU-Net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ED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B64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Purely synthetic (Monte Carlo simulation)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B64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Simulated artifacts on 100 real patient CTs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DSC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B64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B64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95.45%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ED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Accuracy / IOU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B64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IOU = 90.2%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B64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 = 97.89%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Threshold baseline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B64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CMAR (region-growing): DSC 90.5%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B64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T3000 threshold: DSC 84.19%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ED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strength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B64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forward projection needed; robust to motion,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B64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out-of-FOV metal, and voxel-size changes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B64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Sharper, smaller masks; better detail near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B64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metal in NMAR correction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 cost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B64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forward pass (fast, ~ms)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B64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Diffusion sampling (~3 s/batch, DPM-Solver)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E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61288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5029200" cy="5029200"/>
          </a:xfrm>
          <a:prstGeom prst="ellipse">
            <a:avLst/>
          </a:prstGeom>
          <a:solidFill>
            <a:srgbClr val="E8722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E8722C"/>
          </a:solidFill>
          <a:ln/>
        </p:spPr>
      </p:sp>
      <p:pic>
        <p:nvPicPr>
          <p:cNvPr id="4" name="Image 0" descr="/home/claude/assets/icon_trop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608076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502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371600" y="80467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Domain Segments Metal Better?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40" y="16002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8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depends on the goal — but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projection-domain segmentation is the stronger choice for CBCT-based MAR pipelines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8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while image-domain (DiffSeg) wins on raw segmentation accuracy for reconstructed CT.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5486400" cy="3566160"/>
          </a:xfrm>
          <a:prstGeom prst="roundRect">
            <a:avLst>
              <a:gd name="adj" fmla="val 2051"/>
            </a:avLst>
          </a:prstGeom>
          <a:solidFill>
            <a:srgbClr val="3A352F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2788920"/>
            <a:ext cx="594360" cy="594360"/>
          </a:xfrm>
          <a:prstGeom prst="ellipse">
            <a:avLst/>
          </a:prstGeom>
          <a:solidFill>
            <a:srgbClr val="E8722C"/>
          </a:solidFill>
          <a:ln/>
        </p:spPr>
      </p:sp>
      <p:pic>
        <p:nvPicPr>
          <p:cNvPr id="10" name="Image 1" descr="/home/claude/assets/icon_x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19" y="291967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8346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Domain wins when...</a:t>
            </a:r>
            <a:endParaRPr lang="en-US" sz="1500" dirty="0"/>
          </a:p>
        </p:txBody>
      </p:sp>
      <p:pic>
        <p:nvPicPr>
          <p:cNvPr id="12" name="Image 2" descr="/home/claude/assets/icon_check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30168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3547872"/>
            <a:ext cx="46177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8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is out-of-FOV or scan has heavy motion artifact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8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(image-domain cannot segment what isn't reconstructed)</a:t>
            </a:r>
            <a:endParaRPr lang="en-US" sz="1200" dirty="0"/>
          </a:p>
        </p:txBody>
      </p:sp>
      <p:pic>
        <p:nvPicPr>
          <p:cNvPr id="14" name="Image 3" descr="/home/claude/assets/icon_check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553712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43000" y="4471416"/>
            <a:ext cx="46177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8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needs direct integration into existing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8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projection-based MAR (no forward-projection step)</a:t>
            </a:r>
            <a:endParaRPr lang="en-US" sz="1200" dirty="0"/>
          </a:p>
        </p:txBody>
      </p:sp>
      <p:pic>
        <p:nvPicPr>
          <p:cNvPr id="16" name="Image 4" descr="/home/claude/assets/icon_check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477256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43000" y="5394960"/>
            <a:ext cx="4617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8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/ single-pass inference is required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6263640" y="2560320"/>
            <a:ext cx="5486400" cy="3566160"/>
          </a:xfrm>
          <a:prstGeom prst="roundRect">
            <a:avLst>
              <a:gd name="adj" fmla="val 2051"/>
            </a:avLst>
          </a:prstGeom>
          <a:solidFill>
            <a:srgbClr val="3A352F"/>
          </a:solidFill>
          <a:ln/>
        </p:spPr>
      </p:sp>
      <p:sp>
        <p:nvSpPr>
          <p:cNvPr id="19" name="Shape 12"/>
          <p:cNvSpPr/>
          <p:nvPr/>
        </p:nvSpPr>
        <p:spPr>
          <a:xfrm>
            <a:off x="6537960" y="2788920"/>
            <a:ext cx="594360" cy="594360"/>
          </a:xfrm>
          <a:prstGeom prst="ellipse">
            <a:avLst/>
          </a:prstGeom>
          <a:solidFill>
            <a:srgbClr val="E8722C"/>
          </a:solidFill>
          <a:ln/>
        </p:spPr>
      </p:sp>
      <p:pic>
        <p:nvPicPr>
          <p:cNvPr id="20" name="Image 5" descr="/home/claude/assets/icon_brai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8719" y="2919679"/>
            <a:ext cx="332842" cy="33284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269480" y="28346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Domain (DiffSeg) wins when...</a:t>
            </a:r>
            <a:endParaRPr lang="en-US" sz="1500" dirty="0"/>
          </a:p>
        </p:txBody>
      </p:sp>
      <p:pic>
        <p:nvPicPr>
          <p:cNvPr id="22" name="Image 6" descr="/home/claude/assets/icon_check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3630168"/>
            <a:ext cx="201168" cy="20116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858000" y="3547872"/>
            <a:ext cx="46177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8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raw DSC/Accuracy on reconstructed slices is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8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priority (95.45% vs 94.8%)</a:t>
            </a:r>
            <a:endParaRPr lang="en-US" sz="1200" dirty="0"/>
          </a:p>
        </p:txBody>
      </p:sp>
      <p:pic>
        <p:nvPicPr>
          <p:cNvPr id="24" name="Image 7" descr="/home/claude/assets/icon_check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0" y="4553712"/>
            <a:ext cx="201168" cy="20116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858000" y="4471416"/>
            <a:ext cx="46177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8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boundary detail and noise suppression matter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8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(GFParser removes high-frequency artifacts)</a:t>
            </a:r>
            <a:endParaRPr lang="en-US" sz="1200" dirty="0"/>
          </a:p>
        </p:txBody>
      </p:sp>
      <p:pic>
        <p:nvPicPr>
          <p:cNvPr id="26" name="Image 8" descr="/home/claude/assets/icon_check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7960" y="5477256"/>
            <a:ext cx="201168" cy="201168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6858000" y="5394960"/>
            <a:ext cx="46177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8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Sufficient compute is available for diffusion sampling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8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(~3s per batch)</a:t>
            </a:r>
            <a:endParaRPr lang="en-US" sz="1200" dirty="0"/>
          </a:p>
        </p:txBody>
      </p:sp>
      <p:sp>
        <p:nvSpPr>
          <p:cNvPr id="28" name="Text 17"/>
          <p:cNvSpPr/>
          <p:nvPr/>
        </p:nvSpPr>
        <p:spPr>
          <a:xfrm>
            <a:off x="1161288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Implementation — U-Net Metal Mask Segmentation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build &amp; train a U-Net to segment metal regions in CT slices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FDF4ED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594360" cy="594360"/>
          </a:xfrm>
          <a:prstGeom prst="ellipse">
            <a:avLst/>
          </a:prstGeom>
          <a:solidFill>
            <a:srgbClr val="FBE3D2"/>
          </a:solidFill>
          <a:ln/>
        </p:spPr>
      </p:sp>
      <p:pic>
        <p:nvPicPr>
          <p:cNvPr id="6" name="Image 0" descr="/home/claude/assets/icon_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20967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68680" y="2761488"/>
            <a:ext cx="109728" cy="109728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2633472"/>
            <a:ext cx="4434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500 CT slices (512x512) with paired binary metal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masks, loaded as raw float32 arrays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68680" y="3438144"/>
            <a:ext cx="109728" cy="109728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3310128"/>
            <a:ext cx="4434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min-max normalization, resized to 128x128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(image: bilinear, mask: nearest-neighbour to keep it binary)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68680" y="4114800"/>
            <a:ext cx="109728" cy="109728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3986784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lightweight U-Net — 2 encoder blocks (16-&gt;32 ch),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(64 ch), 2 decoder blocks with skip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concatenation, 1x1 conv + sigmoid output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68680" y="5029200"/>
            <a:ext cx="109728" cy="109728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4901184"/>
            <a:ext cx="4434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80/20 train-test split, Adam optimizer, binary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loss, 15 epochs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68680" y="5705856"/>
            <a:ext cx="109728" cy="109728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17" name="Text 14"/>
          <p:cNvSpPr/>
          <p:nvPr/>
        </p:nvSpPr>
        <p:spPr>
          <a:xfrm>
            <a:off x="1143000" y="5577840"/>
            <a:ext cx="4434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Image-domain task — directly comparable to DiffSeg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in Paper 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989320" y="16916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Results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989320" y="2103120"/>
            <a:ext cx="1325880" cy="1143000"/>
          </a:xfrm>
          <a:prstGeom prst="roundRect">
            <a:avLst>
              <a:gd name="adj" fmla="val 6400"/>
            </a:avLst>
          </a:prstGeom>
          <a:solidFill>
            <a:srgbClr val="FDF4ED"/>
          </a:solidFill>
          <a:ln/>
        </p:spPr>
      </p:sp>
      <p:sp>
        <p:nvSpPr>
          <p:cNvPr id="20" name="Text 17"/>
          <p:cNvSpPr/>
          <p:nvPr/>
        </p:nvSpPr>
        <p:spPr>
          <a:xfrm>
            <a:off x="6062472" y="2194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99.86%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6062472" y="26517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accuracy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(epoch 15)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406640" y="2103120"/>
            <a:ext cx="1325880" cy="1143000"/>
          </a:xfrm>
          <a:prstGeom prst="roundRect">
            <a:avLst>
              <a:gd name="adj" fmla="val 6400"/>
            </a:avLst>
          </a:prstGeom>
          <a:solidFill>
            <a:srgbClr val="FDF4ED"/>
          </a:solidFill>
          <a:ln/>
        </p:spPr>
      </p:sp>
      <p:sp>
        <p:nvSpPr>
          <p:cNvPr id="23" name="Text 20"/>
          <p:cNvSpPr/>
          <p:nvPr/>
        </p:nvSpPr>
        <p:spPr>
          <a:xfrm>
            <a:off x="7479792" y="2194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99.89%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7479792" y="26517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accuracy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(epoch 15)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823960" y="2103120"/>
            <a:ext cx="1325880" cy="1143000"/>
          </a:xfrm>
          <a:prstGeom prst="roundRect">
            <a:avLst>
              <a:gd name="adj" fmla="val 6400"/>
            </a:avLst>
          </a:prstGeom>
          <a:solidFill>
            <a:srgbClr val="FDF4ED"/>
          </a:solidFill>
          <a:ln/>
        </p:spPr>
      </p:sp>
      <p:sp>
        <p:nvSpPr>
          <p:cNvPr id="26" name="Text 23"/>
          <p:cNvSpPr/>
          <p:nvPr/>
        </p:nvSpPr>
        <p:spPr>
          <a:xfrm>
            <a:off x="8897112" y="2194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0.0040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8897112" y="26517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loss (BCE)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(epoch 15)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241280" y="2103120"/>
            <a:ext cx="1325880" cy="1143000"/>
          </a:xfrm>
          <a:prstGeom prst="roundRect">
            <a:avLst>
              <a:gd name="adj" fmla="val 6400"/>
            </a:avLst>
          </a:prstGeom>
          <a:solidFill>
            <a:srgbClr val="FDF4ED"/>
          </a:solidFill>
          <a:ln/>
        </p:spPr>
      </p:sp>
      <p:sp>
        <p:nvSpPr>
          <p:cNvPr id="29" name="Text 26"/>
          <p:cNvSpPr/>
          <p:nvPr/>
        </p:nvSpPr>
        <p:spPr>
          <a:xfrm>
            <a:off x="10314432" y="2194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0.0033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10314432" y="26517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loss (BCE)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(epoch 15)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989320" y="34290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input slice &amp; ground-truth metal mask</a:t>
            </a:r>
            <a:endParaRPr lang="en-US" sz="1100" dirty="0"/>
          </a:p>
        </p:txBody>
      </p:sp>
      <p:pic>
        <p:nvPicPr>
          <p:cNvPr id="32" name="Image 1" descr="/home/claude/assets/nb_data_sampl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89320" y="3703320"/>
            <a:ext cx="5669280" cy="128016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989320" y="50292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mask vs ground truth (test sample)</a:t>
            </a:r>
            <a:endParaRPr lang="en-US" sz="1100" dirty="0"/>
          </a:p>
        </p:txBody>
      </p:sp>
      <p:pic>
        <p:nvPicPr>
          <p:cNvPr id="34" name="Image 2" descr="/home/claude/assets/nb_prediction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89320" y="5303520"/>
            <a:ext cx="5669280" cy="86868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1161288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— Observations &amp; Next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fits relative to the reviewed papers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DF4ED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594360" cy="594360"/>
          </a:xfrm>
          <a:prstGeom prst="ellipse">
            <a:avLst/>
          </a:prstGeom>
          <a:solidFill>
            <a:srgbClr val="FBE3D2"/>
          </a:solidFill>
          <a:ln/>
        </p:spPr>
      </p:sp>
      <p:pic>
        <p:nvPicPr>
          <p:cNvPr id="6" name="Image 0" descr="/home/claude/assets/icon_magnif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20967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68680" y="2807208"/>
            <a:ext cx="109728" cy="109728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2679192"/>
            <a:ext cx="48463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 (99.89%) is very high but driven mainly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background pixels — DSC/IOU on the metal class would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fairer picture (as both papers report)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68680" y="3776472"/>
            <a:ext cx="109728" cy="109728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3648456"/>
            <a:ext cx="48463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mask is smoother / slightly larger than ground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— similar to over-segmentation seen with simple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methods in Paper 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68680" y="4745736"/>
            <a:ext cx="109728" cy="109728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4617720"/>
            <a:ext cx="48463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128x128 downsampling may blur small or thin metal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structures; both papers avoid downsampling near metal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 for this reason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68680" y="5715000"/>
            <a:ext cx="109728" cy="109728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5586984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 2-level U-Net was sufficient for this dataset's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well-separated metal regions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355080" y="1691640"/>
            <a:ext cx="5257800" cy="4434840"/>
          </a:xfrm>
          <a:prstGeom prst="roundRect">
            <a:avLst>
              <a:gd name="adj" fmla="val 1649"/>
            </a:avLst>
          </a:prstGeom>
          <a:solidFill>
            <a:srgbClr val="FDF4ED"/>
          </a:solidFill>
          <a:ln/>
        </p:spPr>
      </p:sp>
      <p:sp>
        <p:nvSpPr>
          <p:cNvPr id="17" name="Shape 14"/>
          <p:cNvSpPr/>
          <p:nvPr/>
        </p:nvSpPr>
        <p:spPr>
          <a:xfrm>
            <a:off x="6675120" y="1965960"/>
            <a:ext cx="594360" cy="594360"/>
          </a:xfrm>
          <a:prstGeom prst="ellipse">
            <a:avLst/>
          </a:prstGeom>
          <a:solidFill>
            <a:srgbClr val="FBE3D2"/>
          </a:solidFill>
          <a:ln/>
        </p:spPr>
      </p:sp>
      <p:pic>
        <p:nvPicPr>
          <p:cNvPr id="18" name="Image 1" descr="/home/claude/assets/icon_light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5879" y="2096719"/>
            <a:ext cx="332842" cy="33284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452360" y="2011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Next Steps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6675120" y="2807208"/>
            <a:ext cx="109728" cy="109728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21" name="Text 17"/>
          <p:cNvSpPr/>
          <p:nvPr/>
        </p:nvSpPr>
        <p:spPr>
          <a:xfrm>
            <a:off x="6949440" y="2679192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DSC / IOU / sensitivity / specificity per the metrics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both papers for direct comparability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675120" y="3529584"/>
            <a:ext cx="109728" cy="109728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23" name="Text 19"/>
          <p:cNvSpPr/>
          <p:nvPr/>
        </p:nvSpPr>
        <p:spPr>
          <a:xfrm>
            <a:off x="6949440" y="3401568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a fixed-threshold baseline (2500/3000 HU)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done in Paper 2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675120" y="4251960"/>
            <a:ext cx="109728" cy="109728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25" name="Text 21"/>
          <p:cNvSpPr/>
          <p:nvPr/>
        </p:nvSpPr>
        <p:spPr>
          <a:xfrm>
            <a:off x="6949440" y="4123944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data augmentation (flips, elastic deformation) following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(Ronneberger et al.) and Paper 1's strategy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675120" y="4974336"/>
            <a:ext cx="109728" cy="109728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27" name="Text 23"/>
          <p:cNvSpPr/>
          <p:nvPr/>
        </p:nvSpPr>
        <p:spPr>
          <a:xfrm>
            <a:off x="6949440" y="4846320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full-resolution slices / crops to preserve fine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boundaries, as recommended in Paper 1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675120" y="5696712"/>
            <a:ext cx="109728" cy="109728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29" name="Text 25"/>
          <p:cNvSpPr/>
          <p:nvPr/>
        </p:nvSpPr>
        <p:spPr>
          <a:xfrm>
            <a:off x="6949440" y="5568696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term: extend to the projection domain (CBCT) using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data, mirroring Paper 1's pipeline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1161288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E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5029200" cy="5029200"/>
          </a:xfrm>
          <a:prstGeom prst="ellipse">
            <a:avLst/>
          </a:prstGeom>
          <a:solidFill>
            <a:srgbClr val="E8722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E8722C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E8722C"/>
          </a:solidFill>
          <a:ln/>
        </p:spPr>
      </p:sp>
      <p:pic>
        <p:nvPicPr>
          <p:cNvPr id="5" name="Image 0" descr="/home/claude/assets/icon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011" y="100401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03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800" dirty="0"/>
          </a:p>
        </p:txBody>
      </p:sp>
      <p:pic>
        <p:nvPicPr>
          <p:cNvPr id="7" name="Image 1" descr="/home/claude/assets/icon_check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044952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2971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8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domains push U-Net beyond simple HU thresholds — DSC improved from ~84% (threshold) to ~95% (deep learning)</a:t>
            </a:r>
            <a:endParaRPr lang="en-US" sz="1400" dirty="0"/>
          </a:p>
        </p:txBody>
      </p:sp>
      <p:pic>
        <p:nvPicPr>
          <p:cNvPr id="9" name="Image 2" descr="/home/claude/assets/icon_check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11880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35387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8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Projection-domain (Paper 1) is best suited to CBCT pipelines: motion-robust, handles out-of-FOV metal, single fast pass</a:t>
            </a:r>
            <a:endParaRPr lang="en-US" sz="1400" dirty="0"/>
          </a:p>
        </p:txBody>
      </p:sp>
      <p:pic>
        <p:nvPicPr>
          <p:cNvPr id="11" name="Image 3" descr="/home/claude/assets/icon_check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178808"/>
            <a:ext cx="237744" cy="2377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34440" y="41056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8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Image-domain DiffSeg (Paper 2) achieves the highest raw segmentation accuracy via diffusion + frequency-domain refinement</a:t>
            </a:r>
            <a:endParaRPr lang="en-US" sz="1400" dirty="0"/>
          </a:p>
        </p:txBody>
      </p:sp>
      <p:pic>
        <p:nvPicPr>
          <p:cNvPr id="13" name="Image 4" descr="/home/claude/assets/icon_check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745736"/>
            <a:ext cx="237744" cy="23774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34440" y="46725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8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U-Net notebook implements the image-domain approach — a strong foundation to extend toward Paper 2's evaluation rigor</a:t>
            </a:r>
            <a:endParaRPr lang="en-US" sz="1400" dirty="0"/>
          </a:p>
        </p:txBody>
      </p:sp>
      <p:sp>
        <p:nvSpPr>
          <p:cNvPr id="15" name="Text 8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Metal Segmentation in Medical Imaging: Projection vs Image Domain</dc:title>
  <dc:subject>PptxGenJS Presentation</dc:subject>
  <dc:creator>Presentation</dc:creator>
  <cp:lastModifiedBy>Presentation</cp:lastModifiedBy>
  <cp:revision>1</cp:revision>
  <dcterms:created xsi:type="dcterms:W3CDTF">2026-06-13T13:46:38Z</dcterms:created>
  <dcterms:modified xsi:type="dcterms:W3CDTF">2026-06-13T13:46:38Z</dcterms:modified>
</cp:coreProperties>
</file>